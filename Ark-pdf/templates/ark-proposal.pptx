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8288000" cy="10287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11187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571500" y="571500"/>
            <a:ext cx="17145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"/>
          <p:cNvSpPr txBox="1"/>
          <p:nvPr/>
        </p:nvSpPr>
        <p:spPr>
          <a:xfrm>
            <a:off x="571500" y="9906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ARK / PROJECT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71500" y="3143250"/>
            <a:ext cx="9334500" cy="2571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72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PROJECT</a:t>
            </a:r>
          </a:p>
          <a:p>
            <a:r>
              <a:rPr lang="ko-KR" sz="72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PROPOSAL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1500" y="6572250"/>
            <a:ext cx="7239000" cy="476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4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Business document system</a:t>
            </a:r>
          </a:p>
        </p:txBody>
      </p:sp>
      <p:sp>
        <p:nvSpPr>
          <p:cNvPr id="7" name="Shape"/>
          <p:cNvSpPr/>
          <p:nvPr/>
        </p:nvSpPr>
        <p:spPr>
          <a:xfrm>
            <a:off x="12668250" y="3314700"/>
            <a:ext cx="4000500" cy="4000500"/>
          </a:xfrm>
          <a:prstGeom prst="rect">
            <a:avLst/>
          </a:prstGeom>
          <a:solidFill>
            <a:srgbClr val="011187"/>
          </a:solidFill>
          <a:ln w="12700">
            <a:solidFill>
              <a:srgbClr val="FFFFFF"/>
            </a:solidFill>
          </a:ln>
        </p:spPr>
      </p:sp>
      <p:sp>
        <p:nvSpPr>
          <p:cNvPr id="8" name="Line"/>
          <p:cNvSpPr/>
          <p:nvPr/>
        </p:nvSpPr>
        <p:spPr>
          <a:xfrm flipV="1">
            <a:off x="13525500" y="4000500"/>
            <a:ext cx="2286000" cy="2476500"/>
          </a:xfrm>
          <a:prstGeom prst="line">
            <a:avLst/>
          </a:prstGeom>
          <a:ln w="38100">
            <a:solidFill>
              <a:srgbClr val="FFFFFF"/>
            </a:solidFill>
          </a:ln>
        </p:spPr>
      </p:sp>
      <p:sp>
        <p:nvSpPr>
          <p:cNvPr id="9" name="Line"/>
          <p:cNvSpPr/>
          <p:nvPr/>
        </p:nvSpPr>
        <p:spPr>
          <a:xfrm>
            <a:off x="13525500" y="4000500"/>
            <a:ext cx="2286000" cy="2476500"/>
          </a:xfrm>
          <a:prstGeom prst="line">
            <a:avLst/>
          </a:prstGeom>
          <a:ln w="38100">
            <a:solidFill>
              <a:srgbClr val="FFFFFF"/>
            </a:solidFill>
          </a:ln>
        </p:spPr>
      </p:sp>
      <p:sp>
        <p:nvSpPr>
          <p:cNvPr id="10" name="Line"/>
          <p:cNvSpPr/>
          <p:nvPr/>
        </p:nvSpPr>
        <p:spPr>
          <a:xfrm>
            <a:off x="571500" y="9829800"/>
            <a:ext cx="1714500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sp>
      <p:sp>
        <p:nvSpPr>
          <p:cNvPr id="11" name="TextBox"/>
          <p:cNvSpPr txBox="1"/>
          <p:nvPr/>
        </p:nvSpPr>
        <p:spPr>
          <a:xfrm>
            <a:off x="571500" y="9906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ARK / PROJECT DOCUMENT SYSTEM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6764000" y="99060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Shape"/>
          <p:cNvSpPr/>
          <p:nvPr/>
        </p:nvSpPr>
        <p:spPr>
          <a:xfrm>
            <a:off x="0" y="0"/>
            <a:ext cx="1714500" cy="10287000"/>
          </a:xfrm>
          <a:prstGeom prst="rect">
            <a:avLst/>
          </a:prstGeom>
          <a:solidFill>
            <a:srgbClr val="061A58"/>
          </a:solidFill>
          <a:ln>
            <a:noFill/>
          </a:ln>
        </p:spPr>
      </p:sp>
      <p:sp>
        <p:nvSpPr>
          <p:cNvPr id="15" name="TextBox"/>
          <p:cNvSpPr txBox="1"/>
          <p:nvPr/>
        </p:nvSpPr>
        <p:spPr>
          <a:xfrm>
            <a:off x="552450" y="6667500"/>
            <a:ext cx="952500" cy="1524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96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2286000" y="1066800"/>
            <a:ext cx="6191250" cy="857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56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CONTENTS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2286000" y="188595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/ 예시: 제안의 흐름을 4-6개 장으로 정리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2286000" y="2647950"/>
            <a:ext cx="57150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Context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5240000" y="26479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20" name="Line"/>
          <p:cNvSpPr/>
          <p:nvPr/>
        </p:nvSpPr>
        <p:spPr>
          <a:xfrm>
            <a:off x="2286000" y="3086100"/>
            <a:ext cx="13525500" cy="0"/>
          </a:xfrm>
          <a:prstGeom prst="line">
            <a:avLst/>
          </a:prstGeom>
          <a:ln w="38100">
            <a:solidFill>
              <a:srgbClr val="F4F4F8"/>
            </a:solidFill>
          </a:ln>
        </p:spPr>
      </p:sp>
      <p:sp>
        <p:nvSpPr>
          <p:cNvPr id="21" name="TextBox"/>
          <p:cNvSpPr txBox="1"/>
          <p:nvPr/>
        </p:nvSpPr>
        <p:spPr>
          <a:xfrm>
            <a:off x="2286000" y="3714750"/>
            <a:ext cx="57150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Approach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5240000" y="37147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23" name="Line"/>
          <p:cNvSpPr/>
          <p:nvPr/>
        </p:nvSpPr>
        <p:spPr>
          <a:xfrm>
            <a:off x="2286000" y="4152900"/>
            <a:ext cx="13525500" cy="0"/>
          </a:xfrm>
          <a:prstGeom prst="line">
            <a:avLst/>
          </a:prstGeom>
          <a:ln w="38100">
            <a:solidFill>
              <a:srgbClr val="F4F4F8"/>
            </a:solidFill>
          </a:ln>
        </p:spPr>
      </p:sp>
      <p:sp>
        <p:nvSpPr>
          <p:cNvPr id="24" name="TextBox"/>
          <p:cNvSpPr txBox="1"/>
          <p:nvPr/>
        </p:nvSpPr>
        <p:spPr>
          <a:xfrm>
            <a:off x="2286000" y="4781550"/>
            <a:ext cx="57150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Solution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5240000" y="47815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  <p:sp>
        <p:nvSpPr>
          <p:cNvPr id="26" name="Line"/>
          <p:cNvSpPr/>
          <p:nvPr/>
        </p:nvSpPr>
        <p:spPr>
          <a:xfrm>
            <a:off x="2286000" y="5219700"/>
            <a:ext cx="13525500" cy="0"/>
          </a:xfrm>
          <a:prstGeom prst="line">
            <a:avLst/>
          </a:prstGeom>
          <a:ln w="38100">
            <a:solidFill>
              <a:srgbClr val="F4F4F8"/>
            </a:solidFill>
          </a:ln>
        </p:spPr>
      </p:sp>
      <p:sp>
        <p:nvSpPr>
          <p:cNvPr id="27" name="TextBox"/>
          <p:cNvSpPr txBox="1"/>
          <p:nvPr/>
        </p:nvSpPr>
        <p:spPr>
          <a:xfrm>
            <a:off x="2286000" y="5848350"/>
            <a:ext cx="57150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Execution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5240000" y="58483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04</a:t>
            </a:r>
          </a:p>
        </p:txBody>
      </p:sp>
      <p:sp>
        <p:nvSpPr>
          <p:cNvPr id="29" name="Line"/>
          <p:cNvSpPr/>
          <p:nvPr/>
        </p:nvSpPr>
        <p:spPr>
          <a:xfrm>
            <a:off x="2286000" y="6286500"/>
            <a:ext cx="13525500" cy="0"/>
          </a:xfrm>
          <a:prstGeom prst="line">
            <a:avLst/>
          </a:prstGeom>
          <a:ln w="38100">
            <a:solidFill>
              <a:srgbClr val="F4F4F8"/>
            </a:solidFill>
          </a:ln>
        </p:spPr>
      </p:sp>
      <p:sp>
        <p:nvSpPr>
          <p:cNvPr id="30" name="TextBox"/>
          <p:cNvSpPr txBox="1"/>
          <p:nvPr/>
        </p:nvSpPr>
        <p:spPr>
          <a:xfrm>
            <a:off x="2286000" y="6915150"/>
            <a:ext cx="57150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Appendix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5240000" y="6915150"/>
            <a:ext cx="76200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05</a:t>
            </a:r>
          </a:p>
        </p:txBody>
      </p:sp>
      <p:sp>
        <p:nvSpPr>
          <p:cNvPr id="32" name="Line"/>
          <p:cNvSpPr/>
          <p:nvPr/>
        </p:nvSpPr>
        <p:spPr>
          <a:xfrm>
            <a:off x="2286000" y="7353300"/>
            <a:ext cx="13525500" cy="0"/>
          </a:xfrm>
          <a:prstGeom prst="line">
            <a:avLst/>
          </a:prstGeom>
          <a:ln w="38100">
            <a:solidFill>
              <a:srgbClr val="F4F4F8"/>
            </a:solidFill>
          </a:ln>
        </p:spPr>
      </p:sp>
      <p:sp>
        <p:nvSpPr>
          <p:cNvPr id="33" name="Line"/>
          <p:cNvSpPr/>
          <p:nvPr/>
        </p:nvSpPr>
        <p:spPr>
          <a:xfrm>
            <a:off x="571500" y="9829800"/>
            <a:ext cx="17145000" cy="0"/>
          </a:xfrm>
          <a:prstGeom prst="line">
            <a:avLst/>
          </a:prstGeom>
          <a:ln w="12700">
            <a:solidFill>
              <a:srgbClr val="1A2646"/>
            </a:solidFill>
          </a:ln>
        </p:spPr>
      </p:sp>
      <p:sp>
        <p:nvSpPr>
          <p:cNvPr id="34" name="TextBox"/>
          <p:cNvSpPr txBox="1"/>
          <p:nvPr/>
        </p:nvSpPr>
        <p:spPr>
          <a:xfrm>
            <a:off x="571500" y="9906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ARK / PROJECT DOCUMENT SYSTEM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16764000" y="99060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11187"/>
          </a:solidFill>
          <a:ln>
            <a:noFill/>
          </a:ln>
        </p:spPr>
      </p:sp>
      <p:sp>
        <p:nvSpPr>
          <p:cNvPr id="37" name="TextBox"/>
          <p:cNvSpPr txBox="1"/>
          <p:nvPr/>
        </p:nvSpPr>
        <p:spPr>
          <a:xfrm>
            <a:off x="12001500" y="666750"/>
            <a:ext cx="4762500" cy="2476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571500" y="914400"/>
            <a:ext cx="4762500" cy="4191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SECTION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571500" y="6324600"/>
            <a:ext cx="8763000" cy="2190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66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MARKET</a:t>
            </a:r>
          </a:p>
          <a:p>
            <a:r>
              <a:rPr lang="ko-KR" sz="66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CONTEXT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571500" y="857250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예시: 핵심 메시지를 한 문장으로 압축</a:t>
            </a:r>
          </a:p>
        </p:txBody>
      </p:sp>
      <p:sp>
        <p:nvSpPr>
          <p:cNvPr id="41" name="Line"/>
          <p:cNvSpPr/>
          <p:nvPr/>
        </p:nvSpPr>
        <p:spPr>
          <a:xfrm>
            <a:off x="571500" y="9829800"/>
            <a:ext cx="1714500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sp>
      <p:sp>
        <p:nvSpPr>
          <p:cNvPr id="42" name="TextBox"/>
          <p:cNvSpPr txBox="1"/>
          <p:nvPr/>
        </p:nvSpPr>
        <p:spPr>
          <a:xfrm>
            <a:off x="571500" y="9906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ARK / PROJECT DOCUMENT SYSTEM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16764000" y="99060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Shape"/>
          <p:cNvSpPr/>
          <p:nvPr/>
        </p:nvSpPr>
        <p:spPr>
          <a:xfrm>
            <a:off x="571500" y="1066800"/>
            <a:ext cx="76200" cy="6858000"/>
          </a:xfrm>
          <a:prstGeom prst="rect">
            <a:avLst/>
          </a:prstGeom>
          <a:solidFill>
            <a:srgbClr val="011187"/>
          </a:solidFill>
          <a:ln>
            <a:noFill/>
          </a:ln>
        </p:spPr>
      </p:sp>
      <p:sp>
        <p:nvSpPr>
          <p:cNvPr id="46" name="TextBox"/>
          <p:cNvSpPr txBox="1"/>
          <p:nvPr/>
        </p:nvSpPr>
        <p:spPr>
          <a:xfrm>
            <a:off x="1066800" y="1123950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KEY STATEMENT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1066800" y="2857500"/>
            <a:ext cx="8953500" cy="2000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44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전략은 숫자로 검증되고,</a:t>
            </a:r>
          </a:p>
          <a:p>
            <a:r>
              <a:rPr lang="ko-KR" sz="44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문장은 간결해야 합니다.</a:t>
            </a:r>
          </a:p>
        </p:txBody>
      </p:sp>
      <p:sp>
        <p:nvSpPr>
          <p:cNvPr id="48" name="Shape"/>
          <p:cNvSpPr/>
          <p:nvPr/>
        </p:nvSpPr>
        <p:spPr>
          <a:xfrm>
            <a:off x="1066800" y="6496050"/>
            <a:ext cx="1028700" cy="57150"/>
          </a:xfrm>
          <a:prstGeom prst="rect">
            <a:avLst/>
          </a:prstGeom>
          <a:solidFill>
            <a:srgbClr val="EEC12B"/>
          </a:solidFill>
          <a:ln>
            <a:noFill/>
          </a:ln>
        </p:spPr>
      </p:sp>
      <p:sp>
        <p:nvSpPr>
          <p:cNvPr id="49" name="TextBox"/>
          <p:cNvSpPr txBox="1"/>
          <p:nvPr/>
        </p:nvSpPr>
        <p:spPr>
          <a:xfrm>
            <a:off x="1066800" y="6953250"/>
            <a:ext cx="7239000" cy="476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Problem / Insight / Recommendation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2001500" y="1790700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extension / guide.md</a:t>
            </a:r>
          </a:p>
        </p:txBody>
      </p:sp>
      <p:sp>
        <p:nvSpPr>
          <p:cNvPr id="51" name="Shape"/>
          <p:cNvSpPr/>
          <p:nvPr/>
        </p:nvSpPr>
        <p:spPr>
          <a:xfrm>
            <a:off x="12001500" y="2419350"/>
            <a:ext cx="4762500" cy="3143250"/>
          </a:xfrm>
          <a:prstGeom prst="rect">
            <a:avLst/>
          </a:prstGeom>
          <a:solidFill>
            <a:srgbClr val="F4F4F8"/>
          </a:solidFill>
          <a:ln>
            <a:noFill/>
          </a:ln>
        </p:spPr>
      </p:sp>
      <p:sp>
        <p:nvSpPr>
          <p:cNvPr id="52" name="TextBox"/>
          <p:cNvSpPr txBox="1"/>
          <p:nvPr/>
        </p:nvSpPr>
        <p:spPr>
          <a:xfrm>
            <a:off x="12763500" y="3695700"/>
            <a:ext cx="3429000" cy="857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800" b="1">
                <a:solidFill>
                  <a:srgbClr val="091955"/>
                </a:solidFill>
                <a:latin typeface="Arial"/>
                <a:ea typeface="Malgun Gothic"/>
                <a:cs typeface="Arial"/>
              </a:rPr>
              <a:t>SAMPLE</a:t>
            </a:r>
          </a:p>
          <a:p>
            <a:r>
              <a:rPr lang="ko-KR" sz="2800" b="1">
                <a:solidFill>
                  <a:srgbClr val="091955"/>
                </a:solidFill>
                <a:latin typeface="Arial"/>
                <a:ea typeface="Malgun Gothic"/>
                <a:cs typeface="Arial"/>
              </a:rPr>
              <a:t>icon extension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12763500" y="581025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SAMPLE: house to gold bars</a:t>
            </a:r>
          </a:p>
        </p:txBody>
      </p:sp>
      <p:sp>
        <p:nvSpPr>
          <p:cNvPr id="54" name="Line"/>
          <p:cNvSpPr/>
          <p:nvPr/>
        </p:nvSpPr>
        <p:spPr>
          <a:xfrm>
            <a:off x="571500" y="9829800"/>
            <a:ext cx="17145000" cy="0"/>
          </a:xfrm>
          <a:prstGeom prst="line">
            <a:avLst/>
          </a:prstGeom>
          <a:ln w="12700">
            <a:solidFill>
              <a:srgbClr val="1A2646"/>
            </a:solidFill>
          </a:ln>
        </p:spPr>
      </p:sp>
      <p:sp>
        <p:nvSpPr>
          <p:cNvPr id="55" name="TextBox"/>
          <p:cNvSpPr txBox="1"/>
          <p:nvPr/>
        </p:nvSpPr>
        <p:spPr>
          <a:xfrm>
            <a:off x="571500" y="9906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ARK / PROJECT DOCUMENT SYSTEM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16764000" y="99060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TextBox"/>
          <p:cNvSpPr txBox="1"/>
          <p:nvPr/>
        </p:nvSpPr>
        <p:spPr>
          <a:xfrm>
            <a:off x="571500" y="1104900"/>
            <a:ext cx="8763000" cy="1714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56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PERFORMANCE</a:t>
            </a:r>
          </a:p>
          <a:p>
            <a:r>
              <a:rPr lang="ko-KR" sz="56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SNAPSHOT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571500" y="25336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/ 예시: 핵심 수치와 근거를 한 화면에 배치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571500" y="312420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6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예시 데이터 / SAMPLE</a:t>
            </a:r>
          </a:p>
        </p:txBody>
      </p:sp>
      <p:sp>
        <p:nvSpPr>
          <p:cNvPr id="61" name="Line"/>
          <p:cNvSpPr/>
          <p:nvPr/>
        </p:nvSpPr>
        <p:spPr>
          <a:xfrm>
            <a:off x="1809750" y="3562350"/>
            <a:ext cx="3429000" cy="0"/>
          </a:xfrm>
          <a:prstGeom prst="line">
            <a:avLst/>
          </a:prstGeom>
          <a:ln w="38100">
            <a:solidFill>
              <a:srgbClr val="011187"/>
            </a:solidFill>
          </a:ln>
        </p:spPr>
      </p:sp>
      <p:sp>
        <p:nvSpPr>
          <p:cNvPr id="62" name="TextBox"/>
          <p:cNvSpPr txBox="1"/>
          <p:nvPr/>
        </p:nvSpPr>
        <p:spPr>
          <a:xfrm>
            <a:off x="1809750" y="4191000"/>
            <a:ext cx="3714750" cy="857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52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32%</a:t>
            </a:r>
          </a:p>
        </p:txBody>
      </p:sp>
      <p:sp>
        <p:nvSpPr>
          <p:cNvPr id="63" name="TextBox"/>
          <p:cNvSpPr txBox="1"/>
          <p:nvPr/>
        </p:nvSpPr>
        <p:spPr>
          <a:xfrm>
            <a:off x="1809750" y="539115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예시: 편집 가능한 지표 설명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1809750" y="581025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evidence / source</a:t>
            </a:r>
          </a:p>
        </p:txBody>
      </p:sp>
      <p:sp>
        <p:nvSpPr>
          <p:cNvPr id="65" name="Line"/>
          <p:cNvSpPr/>
          <p:nvPr/>
        </p:nvSpPr>
        <p:spPr>
          <a:xfrm>
            <a:off x="7000875" y="3562350"/>
            <a:ext cx="3429000" cy="0"/>
          </a:xfrm>
          <a:prstGeom prst="line">
            <a:avLst/>
          </a:prstGeom>
          <a:ln w="38100">
            <a:solidFill>
              <a:srgbClr val="011187"/>
            </a:solidFill>
          </a:ln>
        </p:spPr>
      </p:sp>
      <p:sp>
        <p:nvSpPr>
          <p:cNvPr id="66" name="TextBox"/>
          <p:cNvSpPr txBox="1"/>
          <p:nvPr/>
        </p:nvSpPr>
        <p:spPr>
          <a:xfrm>
            <a:off x="7000875" y="4191000"/>
            <a:ext cx="3714750" cy="857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52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4.8×</a:t>
            </a:r>
          </a:p>
        </p:txBody>
      </p:sp>
      <p:sp>
        <p:nvSpPr>
          <p:cNvPr id="67" name="TextBox"/>
          <p:cNvSpPr txBox="1"/>
          <p:nvPr/>
        </p:nvSpPr>
        <p:spPr>
          <a:xfrm>
            <a:off x="7000875" y="539115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예시: 편집 가능한 지표 설명</a:t>
            </a:r>
          </a:p>
        </p:txBody>
      </p:sp>
      <p:sp>
        <p:nvSpPr>
          <p:cNvPr id="68" name="TextBox"/>
          <p:cNvSpPr txBox="1"/>
          <p:nvPr/>
        </p:nvSpPr>
        <p:spPr>
          <a:xfrm>
            <a:off x="7000875" y="581025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evidence / source</a:t>
            </a:r>
          </a:p>
        </p:txBody>
      </p:sp>
      <p:sp>
        <p:nvSpPr>
          <p:cNvPr id="69" name="Line"/>
          <p:cNvSpPr/>
          <p:nvPr/>
        </p:nvSpPr>
        <p:spPr>
          <a:xfrm>
            <a:off x="12192000" y="3562350"/>
            <a:ext cx="3429000" cy="0"/>
          </a:xfrm>
          <a:prstGeom prst="line">
            <a:avLst/>
          </a:prstGeom>
          <a:ln w="38100">
            <a:solidFill>
              <a:srgbClr val="011187"/>
            </a:solidFill>
          </a:ln>
        </p:spPr>
      </p:sp>
      <p:sp>
        <p:nvSpPr>
          <p:cNvPr id="70" name="TextBox"/>
          <p:cNvSpPr txBox="1"/>
          <p:nvPr/>
        </p:nvSpPr>
        <p:spPr>
          <a:xfrm>
            <a:off x="12192000" y="4191000"/>
            <a:ext cx="3714750" cy="857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52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12w</a:t>
            </a:r>
          </a:p>
        </p:txBody>
      </p:sp>
      <p:sp>
        <p:nvSpPr>
          <p:cNvPr id="71" name="TextBox"/>
          <p:cNvSpPr txBox="1"/>
          <p:nvPr/>
        </p:nvSpPr>
        <p:spPr>
          <a:xfrm>
            <a:off x="12192000" y="539115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예시: 편집 가능한 지표 설명</a:t>
            </a:r>
          </a:p>
        </p:txBody>
      </p:sp>
      <p:sp>
        <p:nvSpPr>
          <p:cNvPr id="72" name="TextBox"/>
          <p:cNvSpPr txBox="1"/>
          <p:nvPr/>
        </p:nvSpPr>
        <p:spPr>
          <a:xfrm>
            <a:off x="12192000" y="5810250"/>
            <a:ext cx="3714750" cy="3429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evidence / source</a:t>
            </a:r>
          </a:p>
        </p:txBody>
      </p:sp>
      <p:sp>
        <p:nvSpPr>
          <p:cNvPr id="73" name="Line"/>
          <p:cNvSpPr/>
          <p:nvPr/>
        </p:nvSpPr>
        <p:spPr>
          <a:xfrm>
            <a:off x="571500" y="9829800"/>
            <a:ext cx="17145000" cy="0"/>
          </a:xfrm>
          <a:prstGeom prst="line">
            <a:avLst/>
          </a:prstGeom>
          <a:ln w="12700">
            <a:solidFill>
              <a:srgbClr val="1A2646"/>
            </a:solidFill>
          </a:ln>
        </p:spPr>
      </p:sp>
      <p:sp>
        <p:nvSpPr>
          <p:cNvPr id="74" name="TextBox"/>
          <p:cNvSpPr txBox="1"/>
          <p:nvPr/>
        </p:nvSpPr>
        <p:spPr>
          <a:xfrm>
            <a:off x="571500" y="9906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ARK / PROJECT DOCUMENT SYSTEM</a:t>
            </a:r>
          </a:p>
        </p:txBody>
      </p:sp>
      <p:sp>
        <p:nvSpPr>
          <p:cNvPr id="75" name="TextBox"/>
          <p:cNvSpPr txBox="1"/>
          <p:nvPr/>
        </p:nvSpPr>
        <p:spPr>
          <a:xfrm>
            <a:off x="16764000" y="99060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4F8"/>
          </a:solidFill>
          <a:ln>
            <a:noFill/>
          </a:ln>
        </p:spPr>
      </p:sp>
      <p:sp>
        <p:nvSpPr>
          <p:cNvPr id="77" name="TextBox"/>
          <p:cNvSpPr txBox="1"/>
          <p:nvPr/>
        </p:nvSpPr>
        <p:spPr>
          <a:xfrm>
            <a:off x="571500" y="990600"/>
            <a:ext cx="8382000" cy="1619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56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OPTION</a:t>
            </a:r>
          </a:p>
          <a:p>
            <a:r>
              <a:rPr lang="ko-KR" sz="56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COMPARISON</a:t>
            </a:r>
          </a:p>
        </p:txBody>
      </p:sp>
      <p:sp>
        <p:nvSpPr>
          <p:cNvPr id="78" name="TextBox"/>
          <p:cNvSpPr txBox="1"/>
          <p:nvPr/>
        </p:nvSpPr>
        <p:spPr>
          <a:xfrm>
            <a:off x="571500" y="2457450"/>
            <a:ext cx="8572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/ 예시: 차이를 빠르게 스캔하도록 규칙과 강조색을 제한</a:t>
            </a:r>
          </a:p>
        </p:txBody>
      </p:sp>
      <p:sp>
        <p:nvSpPr>
          <p:cNvPr id="79" name="Shape"/>
          <p:cNvSpPr/>
          <p:nvPr/>
        </p:nvSpPr>
        <p:spPr>
          <a:xfrm>
            <a:off x="1143000" y="3638550"/>
            <a:ext cx="7239000" cy="3524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0" name="Shape"/>
          <p:cNvSpPr/>
          <p:nvPr/>
        </p:nvSpPr>
        <p:spPr>
          <a:xfrm>
            <a:off x="9906000" y="3638550"/>
            <a:ext cx="7239000" cy="3524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1" name="TextBox"/>
          <p:cNvSpPr txBox="1"/>
          <p:nvPr/>
        </p:nvSpPr>
        <p:spPr>
          <a:xfrm>
            <a:off x="1600200" y="4000500"/>
            <a:ext cx="6191250" cy="476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Before / Option A</a:t>
            </a:r>
          </a:p>
        </p:txBody>
      </p:sp>
      <p:sp>
        <p:nvSpPr>
          <p:cNvPr id="82" name="TextBox"/>
          <p:cNvSpPr txBox="1"/>
          <p:nvPr/>
        </p:nvSpPr>
        <p:spPr>
          <a:xfrm>
            <a:off x="10363200" y="4000500"/>
            <a:ext cx="6191250" cy="476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After / Option B</a:t>
            </a:r>
          </a:p>
        </p:txBody>
      </p:sp>
      <p:sp>
        <p:nvSpPr>
          <p:cNvPr id="83" name="Line"/>
          <p:cNvSpPr/>
          <p:nvPr/>
        </p:nvSpPr>
        <p:spPr>
          <a:xfrm>
            <a:off x="1600200" y="4724400"/>
            <a:ext cx="6324600" cy="0"/>
          </a:xfrm>
          <a:prstGeom prst="line">
            <a:avLst/>
          </a:prstGeom>
          <a:ln w="38100">
            <a:solidFill>
              <a:srgbClr val="F4F4F8"/>
            </a:solidFill>
          </a:ln>
        </p:spPr>
      </p:sp>
      <p:sp>
        <p:nvSpPr>
          <p:cNvPr id="84" name="Line"/>
          <p:cNvSpPr/>
          <p:nvPr/>
        </p:nvSpPr>
        <p:spPr>
          <a:xfrm>
            <a:off x="10363200" y="4724400"/>
            <a:ext cx="6324600" cy="0"/>
          </a:xfrm>
          <a:prstGeom prst="line">
            <a:avLst/>
          </a:prstGeom>
          <a:ln w="38100">
            <a:solidFill>
              <a:srgbClr val="011187"/>
            </a:solidFill>
          </a:ln>
        </p:spPr>
      </p:sp>
      <p:sp>
        <p:nvSpPr>
          <p:cNvPr id="85" name="TextBox"/>
          <p:cNvSpPr txBox="1"/>
          <p:nvPr/>
        </p:nvSpPr>
        <p:spPr>
          <a:xfrm>
            <a:off x="1600200" y="5162550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예시: 비교 항목 01</a:t>
            </a:r>
          </a:p>
        </p:txBody>
      </p:sp>
      <p:sp>
        <p:nvSpPr>
          <p:cNvPr id="86" name="TextBox"/>
          <p:cNvSpPr txBox="1"/>
          <p:nvPr/>
        </p:nvSpPr>
        <p:spPr>
          <a:xfrm>
            <a:off x="10363200" y="5162550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예시: 차별화 메시지 01</a:t>
            </a:r>
          </a:p>
        </p:txBody>
      </p:sp>
      <p:sp>
        <p:nvSpPr>
          <p:cNvPr id="87" name="TextBox"/>
          <p:cNvSpPr txBox="1"/>
          <p:nvPr/>
        </p:nvSpPr>
        <p:spPr>
          <a:xfrm>
            <a:off x="1600200" y="5810250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비교 항목 02</a:t>
            </a:r>
          </a:p>
        </p:txBody>
      </p:sp>
      <p:sp>
        <p:nvSpPr>
          <p:cNvPr id="88" name="TextBox"/>
          <p:cNvSpPr txBox="1"/>
          <p:nvPr/>
        </p:nvSpPr>
        <p:spPr>
          <a:xfrm>
            <a:off x="10363200" y="5810250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차별화 메시지 02</a:t>
            </a:r>
          </a:p>
        </p:txBody>
      </p:sp>
      <p:sp>
        <p:nvSpPr>
          <p:cNvPr id="89" name="Line"/>
          <p:cNvSpPr/>
          <p:nvPr/>
        </p:nvSpPr>
        <p:spPr>
          <a:xfrm>
            <a:off x="571500" y="9829800"/>
            <a:ext cx="17145000" cy="0"/>
          </a:xfrm>
          <a:prstGeom prst="line">
            <a:avLst/>
          </a:prstGeom>
          <a:ln w="12700">
            <a:solidFill>
              <a:srgbClr val="1A2646"/>
            </a:solidFill>
          </a:ln>
        </p:spPr>
      </p:sp>
      <p:sp>
        <p:nvSpPr>
          <p:cNvPr id="90" name="TextBox"/>
          <p:cNvSpPr txBox="1"/>
          <p:nvPr/>
        </p:nvSpPr>
        <p:spPr>
          <a:xfrm>
            <a:off x="571500" y="9906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ARK / PROJECT DOCUMENT SYSTEM</a:t>
            </a:r>
          </a:p>
        </p:txBody>
      </p:sp>
      <p:sp>
        <p:nvSpPr>
          <p:cNvPr id="91" name="TextBox"/>
          <p:cNvSpPr txBox="1"/>
          <p:nvPr/>
        </p:nvSpPr>
        <p:spPr>
          <a:xfrm>
            <a:off x="16764000" y="99060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" name="TextBox"/>
          <p:cNvSpPr txBox="1"/>
          <p:nvPr/>
        </p:nvSpPr>
        <p:spPr>
          <a:xfrm>
            <a:off x="571500" y="1066800"/>
            <a:ext cx="8572500" cy="1714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56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EXECUTION</a:t>
            </a:r>
          </a:p>
          <a:p>
            <a:r>
              <a:rPr lang="ko-KR" sz="5600" b="1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PROCESS</a:t>
            </a:r>
          </a:p>
        </p:txBody>
      </p:sp>
      <p:sp>
        <p:nvSpPr>
          <p:cNvPr id="94" name="TextBox"/>
          <p:cNvSpPr txBox="1"/>
          <p:nvPr/>
        </p:nvSpPr>
        <p:spPr>
          <a:xfrm>
            <a:off x="571500" y="253365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SAMPLE / 예시: 단계별 산출물과 책임 범위를 명료하게 표현</a:t>
            </a:r>
          </a:p>
        </p:txBody>
      </p:sp>
      <p:sp>
        <p:nvSpPr>
          <p:cNvPr id="95" name="Line"/>
          <p:cNvSpPr/>
          <p:nvPr/>
        </p:nvSpPr>
        <p:spPr>
          <a:xfrm>
            <a:off x="2190750" y="5086350"/>
            <a:ext cx="12001500" cy="0"/>
          </a:xfrm>
          <a:prstGeom prst="line">
            <a:avLst/>
          </a:prstGeom>
          <a:ln w="76200">
            <a:solidFill>
              <a:srgbClr val="F4F4F8"/>
            </a:solidFill>
          </a:ln>
        </p:spPr>
      </p:sp>
      <p:sp>
        <p:nvSpPr>
          <p:cNvPr id="96" name="Ellipse"/>
          <p:cNvSpPr/>
          <p:nvPr/>
        </p:nvSpPr>
        <p:spPr>
          <a:xfrm>
            <a:off x="1485900" y="4381500"/>
            <a:ext cx="1409700" cy="1409700"/>
          </a:xfrm>
          <a:prstGeom prst="ellipse">
            <a:avLst/>
          </a:prstGeom>
          <a:solidFill>
            <a:srgbClr val="F4F4F8"/>
          </a:solidFill>
          <a:ln w="38100">
            <a:solidFill>
              <a:srgbClr val="011187"/>
            </a:solidFill>
          </a:ln>
        </p:spPr>
      </p:sp>
      <p:sp>
        <p:nvSpPr>
          <p:cNvPr id="97" name="TextBox"/>
          <p:cNvSpPr txBox="1"/>
          <p:nvPr/>
        </p:nvSpPr>
        <p:spPr>
          <a:xfrm>
            <a:off x="2000250" y="4857750"/>
            <a:ext cx="5715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4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1</a:t>
            </a:r>
          </a:p>
        </p:txBody>
      </p:sp>
      <p:sp>
        <p:nvSpPr>
          <p:cNvPr id="98" name="TextBox"/>
          <p:cNvSpPr txBox="1"/>
          <p:nvPr/>
        </p:nvSpPr>
        <p:spPr>
          <a:xfrm>
            <a:off x="1162050" y="61341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Discover</a:t>
            </a:r>
          </a:p>
        </p:txBody>
      </p:sp>
      <p:sp>
        <p:nvSpPr>
          <p:cNvPr id="99" name="TextBox"/>
          <p:cNvSpPr txBox="1"/>
          <p:nvPr/>
        </p:nvSpPr>
        <p:spPr>
          <a:xfrm>
            <a:off x="1162050" y="66675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예시: 산출물 설명</a:t>
            </a:r>
          </a:p>
        </p:txBody>
      </p:sp>
      <p:sp>
        <p:nvSpPr>
          <p:cNvPr id="100" name="Ellipse"/>
          <p:cNvSpPr/>
          <p:nvPr/>
        </p:nvSpPr>
        <p:spPr>
          <a:xfrm>
            <a:off x="5486400" y="4381500"/>
            <a:ext cx="1409700" cy="1409700"/>
          </a:xfrm>
          <a:prstGeom prst="ellipse">
            <a:avLst/>
          </a:prstGeom>
          <a:solidFill>
            <a:srgbClr val="F4F4F8"/>
          </a:solidFill>
          <a:ln w="38100">
            <a:solidFill>
              <a:srgbClr val="011187"/>
            </a:solidFill>
          </a:ln>
        </p:spPr>
      </p:sp>
      <p:sp>
        <p:nvSpPr>
          <p:cNvPr id="101" name="TextBox"/>
          <p:cNvSpPr txBox="1"/>
          <p:nvPr/>
        </p:nvSpPr>
        <p:spPr>
          <a:xfrm>
            <a:off x="6000750" y="4857750"/>
            <a:ext cx="5715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4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2</a:t>
            </a:r>
          </a:p>
        </p:txBody>
      </p:sp>
      <p:sp>
        <p:nvSpPr>
          <p:cNvPr id="102" name="TextBox"/>
          <p:cNvSpPr txBox="1"/>
          <p:nvPr/>
        </p:nvSpPr>
        <p:spPr>
          <a:xfrm>
            <a:off x="5162550" y="61341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Design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5162550" y="66675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예시: 산출물 설명</a:t>
            </a:r>
          </a:p>
        </p:txBody>
      </p:sp>
      <p:sp>
        <p:nvSpPr>
          <p:cNvPr id="104" name="Ellipse"/>
          <p:cNvSpPr/>
          <p:nvPr/>
        </p:nvSpPr>
        <p:spPr>
          <a:xfrm>
            <a:off x="9486900" y="4381500"/>
            <a:ext cx="1409700" cy="1409700"/>
          </a:xfrm>
          <a:prstGeom prst="ellipse">
            <a:avLst/>
          </a:prstGeom>
          <a:solidFill>
            <a:srgbClr val="F4F4F8"/>
          </a:solidFill>
          <a:ln w="38100">
            <a:solidFill>
              <a:srgbClr val="011187"/>
            </a:solidFill>
          </a:ln>
        </p:spPr>
      </p:sp>
      <p:sp>
        <p:nvSpPr>
          <p:cNvPr id="105" name="TextBox"/>
          <p:cNvSpPr txBox="1"/>
          <p:nvPr/>
        </p:nvSpPr>
        <p:spPr>
          <a:xfrm>
            <a:off x="10001250" y="4857750"/>
            <a:ext cx="5715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4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3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9163050" y="61341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Build</a:t>
            </a:r>
          </a:p>
        </p:txBody>
      </p:sp>
      <p:sp>
        <p:nvSpPr>
          <p:cNvPr id="107" name="TextBox"/>
          <p:cNvSpPr txBox="1"/>
          <p:nvPr/>
        </p:nvSpPr>
        <p:spPr>
          <a:xfrm>
            <a:off x="9163050" y="66675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예시: 산출물 설명</a:t>
            </a:r>
          </a:p>
        </p:txBody>
      </p:sp>
      <p:sp>
        <p:nvSpPr>
          <p:cNvPr id="108" name="Ellipse"/>
          <p:cNvSpPr/>
          <p:nvPr/>
        </p:nvSpPr>
        <p:spPr>
          <a:xfrm>
            <a:off x="13487400" y="4381500"/>
            <a:ext cx="1409700" cy="1409700"/>
          </a:xfrm>
          <a:prstGeom prst="ellipse">
            <a:avLst/>
          </a:prstGeom>
          <a:solidFill>
            <a:srgbClr val="F4F4F8"/>
          </a:solidFill>
          <a:ln w="38100">
            <a:solidFill>
              <a:srgbClr val="011187"/>
            </a:solidFill>
          </a:ln>
        </p:spPr>
      </p:sp>
      <p:sp>
        <p:nvSpPr>
          <p:cNvPr id="109" name="TextBox"/>
          <p:cNvSpPr txBox="1"/>
          <p:nvPr/>
        </p:nvSpPr>
        <p:spPr>
          <a:xfrm>
            <a:off x="14001750" y="4857750"/>
            <a:ext cx="5715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4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4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13163550" y="61341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Verify</a:t>
            </a:r>
          </a:p>
        </p:txBody>
      </p:sp>
      <p:sp>
        <p:nvSpPr>
          <p:cNvPr id="111" name="TextBox"/>
          <p:cNvSpPr txBox="1"/>
          <p:nvPr/>
        </p:nvSpPr>
        <p:spPr>
          <a:xfrm>
            <a:off x="13163550" y="66675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예시: 산출물 설명</a:t>
            </a:r>
          </a:p>
        </p:txBody>
      </p:sp>
      <p:sp>
        <p:nvSpPr>
          <p:cNvPr id="112" name="Line"/>
          <p:cNvSpPr/>
          <p:nvPr/>
        </p:nvSpPr>
        <p:spPr>
          <a:xfrm>
            <a:off x="571500" y="9829800"/>
            <a:ext cx="17145000" cy="0"/>
          </a:xfrm>
          <a:prstGeom prst="line">
            <a:avLst/>
          </a:prstGeom>
          <a:ln w="12700">
            <a:solidFill>
              <a:srgbClr val="1A2646"/>
            </a:solidFill>
          </a:ln>
        </p:spPr>
      </p:sp>
      <p:sp>
        <p:nvSpPr>
          <p:cNvPr id="113" name="TextBox"/>
          <p:cNvSpPr txBox="1"/>
          <p:nvPr/>
        </p:nvSpPr>
        <p:spPr>
          <a:xfrm>
            <a:off x="571500" y="9906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ARK / PROJECT DOCUMENT SYSTEM</a:t>
            </a:r>
          </a:p>
        </p:txBody>
      </p:sp>
      <p:sp>
        <p:nvSpPr>
          <p:cNvPr id="114" name="TextBox"/>
          <p:cNvSpPr txBox="1"/>
          <p:nvPr/>
        </p:nvSpPr>
        <p:spPr>
          <a:xfrm>
            <a:off x="16764000" y="99060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" name="Shape"/>
          <p:cNvSpPr/>
          <p:nvPr/>
        </p:nvSpPr>
        <p:spPr>
          <a:xfrm>
            <a:off x="0" y="0"/>
            <a:ext cx="5334000" cy="10287000"/>
          </a:xfrm>
          <a:prstGeom prst="rect">
            <a:avLst/>
          </a:prstGeom>
          <a:solidFill>
            <a:srgbClr val="061A58"/>
          </a:solidFill>
          <a:ln>
            <a:noFill/>
          </a:ln>
        </p:spPr>
      </p:sp>
      <p:sp>
        <p:nvSpPr>
          <p:cNvPr id="117" name="TextBox"/>
          <p:cNvSpPr txBox="1"/>
          <p:nvPr/>
        </p:nvSpPr>
        <p:spPr>
          <a:xfrm>
            <a:off x="571500" y="1200150"/>
            <a:ext cx="4000500" cy="1714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56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CASE</a:t>
            </a:r>
          </a:p>
          <a:p>
            <a:r>
              <a:rPr lang="ko-KR" sz="56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STUDY</a:t>
            </a:r>
          </a:p>
        </p:txBody>
      </p:sp>
      <p:sp>
        <p:nvSpPr>
          <p:cNvPr id="118" name="TextBox"/>
          <p:cNvSpPr txBox="1"/>
          <p:nvPr/>
        </p:nvSpPr>
        <p:spPr>
          <a:xfrm>
            <a:off x="571500" y="3238500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/ 예시: 상황과 결과를 정돈된 증거 구조로 연결</a:t>
            </a:r>
          </a:p>
        </p:txBody>
      </p:sp>
      <p:sp>
        <p:nvSpPr>
          <p:cNvPr id="119" name="Shape"/>
          <p:cNvSpPr/>
          <p:nvPr/>
        </p:nvSpPr>
        <p:spPr>
          <a:xfrm>
            <a:off x="6858000" y="1695450"/>
            <a:ext cx="9334500" cy="2095500"/>
          </a:xfrm>
          <a:prstGeom prst="rect">
            <a:avLst/>
          </a:prstGeom>
          <a:solidFill>
            <a:srgbClr val="F4F4F8"/>
          </a:solidFill>
          <a:ln>
            <a:noFill/>
          </a:ln>
        </p:spPr>
      </p:sp>
      <p:sp>
        <p:nvSpPr>
          <p:cNvPr id="120" name="Shape"/>
          <p:cNvSpPr/>
          <p:nvPr/>
        </p:nvSpPr>
        <p:spPr>
          <a:xfrm>
            <a:off x="6858000" y="4286250"/>
            <a:ext cx="9334500" cy="2095500"/>
          </a:xfrm>
          <a:prstGeom prst="rect">
            <a:avLst/>
          </a:prstGeom>
          <a:solidFill>
            <a:srgbClr val="F4F4F8"/>
          </a:solidFill>
          <a:ln>
            <a:noFill/>
          </a:ln>
        </p:spPr>
      </p:sp>
      <p:sp>
        <p:nvSpPr>
          <p:cNvPr id="121" name="Shape"/>
          <p:cNvSpPr/>
          <p:nvPr/>
        </p:nvSpPr>
        <p:spPr>
          <a:xfrm>
            <a:off x="6858000" y="6877050"/>
            <a:ext cx="9334500" cy="1143000"/>
          </a:xfrm>
          <a:prstGeom prst="rect">
            <a:avLst/>
          </a:prstGeom>
          <a:solidFill>
            <a:srgbClr val="011187"/>
          </a:solidFill>
          <a:ln>
            <a:noFill/>
          </a:ln>
        </p:spPr>
      </p:sp>
      <p:sp>
        <p:nvSpPr>
          <p:cNvPr id="122" name="TextBox"/>
          <p:cNvSpPr txBox="1"/>
          <p:nvPr/>
        </p:nvSpPr>
        <p:spPr>
          <a:xfrm>
            <a:off x="7334250" y="2171700"/>
            <a:ext cx="4762500" cy="476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Challenge</a:t>
            </a:r>
          </a:p>
        </p:txBody>
      </p:sp>
      <p:sp>
        <p:nvSpPr>
          <p:cNvPr id="123" name="TextBox"/>
          <p:cNvSpPr txBox="1"/>
          <p:nvPr/>
        </p:nvSpPr>
        <p:spPr>
          <a:xfrm>
            <a:off x="7334250" y="4762500"/>
            <a:ext cx="4762500" cy="476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>
                <a:solidFill>
                  <a:srgbClr val="1A2646"/>
                </a:solidFill>
                <a:latin typeface="Arial"/>
                <a:ea typeface="Malgun Gothic"/>
                <a:cs typeface="Arial"/>
              </a:rPr>
              <a:t>SAMPLE Approach</a:t>
            </a:r>
          </a:p>
        </p:txBody>
      </p:sp>
      <p:sp>
        <p:nvSpPr>
          <p:cNvPr id="124" name="TextBox"/>
          <p:cNvSpPr txBox="1"/>
          <p:nvPr/>
        </p:nvSpPr>
        <p:spPr>
          <a:xfrm>
            <a:off x="7334250" y="7334250"/>
            <a:ext cx="4762500" cy="476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6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Result</a:t>
            </a:r>
          </a:p>
        </p:txBody>
      </p:sp>
      <p:sp>
        <p:nvSpPr>
          <p:cNvPr id="125" name="Line"/>
          <p:cNvSpPr/>
          <p:nvPr/>
        </p:nvSpPr>
        <p:spPr>
          <a:xfrm>
            <a:off x="571500" y="9829800"/>
            <a:ext cx="17145000" cy="0"/>
          </a:xfrm>
          <a:prstGeom prst="line">
            <a:avLst/>
          </a:prstGeom>
          <a:ln w="12700">
            <a:solidFill>
              <a:srgbClr val="1A2646"/>
            </a:solidFill>
          </a:ln>
        </p:spPr>
      </p:sp>
      <p:sp>
        <p:nvSpPr>
          <p:cNvPr id="126" name="TextBox"/>
          <p:cNvSpPr txBox="1"/>
          <p:nvPr/>
        </p:nvSpPr>
        <p:spPr>
          <a:xfrm>
            <a:off x="571500" y="9906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ARK / PROJECT DOCUMENT SYSTEM</a:t>
            </a:r>
          </a:p>
        </p:txBody>
      </p:sp>
      <p:sp>
        <p:nvSpPr>
          <p:cNvPr id="127" name="TextBox"/>
          <p:cNvSpPr txBox="1"/>
          <p:nvPr/>
        </p:nvSpPr>
        <p:spPr>
          <a:xfrm>
            <a:off x="16764000" y="99060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516086"/>
                </a:solidFill>
                <a:latin typeface="Arial"/>
                <a:ea typeface="Malgun Gothic"/>
                <a:cs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61A58"/>
          </a:solidFill>
          <a:ln>
            <a:noFill/>
          </a:ln>
        </p:spPr>
      </p:sp>
      <p:sp>
        <p:nvSpPr>
          <p:cNvPr id="129" name="TextBox"/>
          <p:cNvSpPr txBox="1"/>
          <p:nvPr/>
        </p:nvSpPr>
        <p:spPr>
          <a:xfrm>
            <a:off x="571500" y="1028700"/>
            <a:ext cx="8572500" cy="1714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56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VISUAL</a:t>
            </a:r>
          </a:p>
          <a:p>
            <a:r>
              <a:rPr lang="ko-KR" sz="56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REFERENCE</a:t>
            </a:r>
          </a:p>
        </p:txBody>
      </p:sp>
      <p:sp>
        <p:nvSpPr>
          <p:cNvPr id="130" name="TextBox"/>
          <p:cNvSpPr txBox="1"/>
          <p:nvPr/>
        </p:nvSpPr>
        <p:spPr>
          <a:xfrm>
            <a:off x="571500" y="2476500"/>
            <a:ext cx="81915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/ 예시: 이미지는 같은 톤의 프레임 안에서만 사용</a:t>
            </a:r>
          </a:p>
        </p:txBody>
      </p:sp>
      <p:sp>
        <p:nvSpPr>
          <p:cNvPr id="131" name="Shape"/>
          <p:cNvSpPr/>
          <p:nvPr/>
        </p:nvSpPr>
        <p:spPr>
          <a:xfrm>
            <a:off x="1143000" y="3333750"/>
            <a:ext cx="4191000" cy="3143250"/>
          </a:xfrm>
          <a:prstGeom prst="rect">
            <a:avLst/>
          </a:prstGeom>
          <a:solidFill>
            <a:srgbClr val="F4F4F8"/>
          </a:solidFill>
          <a:ln>
            <a:noFill/>
          </a:ln>
        </p:spPr>
      </p:sp>
      <p:sp>
        <p:nvSpPr>
          <p:cNvPr id="132" name="Line"/>
          <p:cNvSpPr/>
          <p:nvPr/>
        </p:nvSpPr>
        <p:spPr>
          <a:xfrm flipV="1">
            <a:off x="1752600" y="4667250"/>
            <a:ext cx="1162050" cy="1085850"/>
          </a:xfrm>
          <a:prstGeom prst="line">
            <a:avLst/>
          </a:prstGeom>
          <a:ln w="38100">
            <a:solidFill>
              <a:srgbClr val="516086"/>
            </a:solidFill>
          </a:ln>
        </p:spPr>
      </p:sp>
      <p:sp>
        <p:nvSpPr>
          <p:cNvPr id="133" name="Line"/>
          <p:cNvSpPr/>
          <p:nvPr/>
        </p:nvSpPr>
        <p:spPr>
          <a:xfrm>
            <a:off x="2914650" y="4667250"/>
            <a:ext cx="1009650" cy="762000"/>
          </a:xfrm>
          <a:prstGeom prst="line">
            <a:avLst/>
          </a:prstGeom>
          <a:ln w="38100">
            <a:solidFill>
              <a:srgbClr val="516086"/>
            </a:solidFill>
          </a:ln>
        </p:spPr>
      </p:sp>
      <p:sp>
        <p:nvSpPr>
          <p:cNvPr id="134" name="Line"/>
          <p:cNvSpPr/>
          <p:nvPr/>
        </p:nvSpPr>
        <p:spPr>
          <a:xfrm flipV="1">
            <a:off x="3924300" y="4953000"/>
            <a:ext cx="742950" cy="476250"/>
          </a:xfrm>
          <a:prstGeom prst="line">
            <a:avLst/>
          </a:prstGeom>
          <a:ln w="38100">
            <a:solidFill>
              <a:srgbClr val="516086"/>
            </a:solidFill>
          </a:ln>
        </p:spPr>
      </p:sp>
      <p:sp>
        <p:nvSpPr>
          <p:cNvPr id="135" name="Ellipse"/>
          <p:cNvSpPr/>
          <p:nvPr/>
        </p:nvSpPr>
        <p:spPr>
          <a:xfrm>
            <a:off x="4057650" y="3829050"/>
            <a:ext cx="533400" cy="533400"/>
          </a:xfrm>
          <a:prstGeom prst="ellipse">
            <a:avLst/>
          </a:prstGeom>
          <a:solidFill>
            <a:srgbClr val="EEC12B"/>
          </a:solidFill>
          <a:ln>
            <a:noFill/>
          </a:ln>
        </p:spPr>
      </p:sp>
      <p:sp>
        <p:nvSpPr>
          <p:cNvPr id="136" name="TextBox"/>
          <p:cNvSpPr txBox="1"/>
          <p:nvPr/>
        </p:nvSpPr>
        <p:spPr>
          <a:xfrm>
            <a:off x="1143000" y="68199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Reference 1</a:t>
            </a:r>
          </a:p>
        </p:txBody>
      </p:sp>
      <p:sp>
        <p:nvSpPr>
          <p:cNvPr id="137" name="Shape"/>
          <p:cNvSpPr/>
          <p:nvPr/>
        </p:nvSpPr>
        <p:spPr>
          <a:xfrm>
            <a:off x="6477000" y="3333750"/>
            <a:ext cx="4191000" cy="3143250"/>
          </a:xfrm>
          <a:prstGeom prst="rect">
            <a:avLst/>
          </a:prstGeom>
          <a:solidFill>
            <a:srgbClr val="F4F4F8"/>
          </a:solidFill>
          <a:ln>
            <a:noFill/>
          </a:ln>
        </p:spPr>
      </p:sp>
      <p:sp>
        <p:nvSpPr>
          <p:cNvPr id="138" name="Line"/>
          <p:cNvSpPr/>
          <p:nvPr/>
        </p:nvSpPr>
        <p:spPr>
          <a:xfrm flipV="1">
            <a:off x="7086600" y="4667250"/>
            <a:ext cx="1162050" cy="1085850"/>
          </a:xfrm>
          <a:prstGeom prst="line">
            <a:avLst/>
          </a:prstGeom>
          <a:ln w="38100">
            <a:solidFill>
              <a:srgbClr val="516086"/>
            </a:solidFill>
          </a:ln>
        </p:spPr>
      </p:sp>
      <p:sp>
        <p:nvSpPr>
          <p:cNvPr id="139" name="Line"/>
          <p:cNvSpPr/>
          <p:nvPr/>
        </p:nvSpPr>
        <p:spPr>
          <a:xfrm>
            <a:off x="8248650" y="4667250"/>
            <a:ext cx="1009650" cy="762000"/>
          </a:xfrm>
          <a:prstGeom prst="line">
            <a:avLst/>
          </a:prstGeom>
          <a:ln w="38100">
            <a:solidFill>
              <a:srgbClr val="516086"/>
            </a:solidFill>
          </a:ln>
        </p:spPr>
      </p:sp>
      <p:sp>
        <p:nvSpPr>
          <p:cNvPr id="140" name="Line"/>
          <p:cNvSpPr/>
          <p:nvPr/>
        </p:nvSpPr>
        <p:spPr>
          <a:xfrm flipV="1">
            <a:off x="9258300" y="4953000"/>
            <a:ext cx="742950" cy="476250"/>
          </a:xfrm>
          <a:prstGeom prst="line">
            <a:avLst/>
          </a:prstGeom>
          <a:ln w="38100">
            <a:solidFill>
              <a:srgbClr val="516086"/>
            </a:solidFill>
          </a:ln>
        </p:spPr>
      </p:sp>
      <p:sp>
        <p:nvSpPr>
          <p:cNvPr id="141" name="Ellipse"/>
          <p:cNvSpPr/>
          <p:nvPr/>
        </p:nvSpPr>
        <p:spPr>
          <a:xfrm>
            <a:off x="9391650" y="3829050"/>
            <a:ext cx="533400" cy="533400"/>
          </a:xfrm>
          <a:prstGeom prst="ellipse">
            <a:avLst/>
          </a:prstGeom>
          <a:solidFill>
            <a:srgbClr val="EEC12B"/>
          </a:solidFill>
          <a:ln>
            <a:noFill/>
          </a:ln>
        </p:spPr>
      </p:sp>
      <p:sp>
        <p:nvSpPr>
          <p:cNvPr id="142" name="TextBox"/>
          <p:cNvSpPr txBox="1"/>
          <p:nvPr/>
        </p:nvSpPr>
        <p:spPr>
          <a:xfrm>
            <a:off x="6477000" y="68199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Reference 2</a:t>
            </a:r>
          </a:p>
        </p:txBody>
      </p:sp>
      <p:sp>
        <p:nvSpPr>
          <p:cNvPr id="143" name="Shape"/>
          <p:cNvSpPr/>
          <p:nvPr/>
        </p:nvSpPr>
        <p:spPr>
          <a:xfrm>
            <a:off x="11811000" y="3333750"/>
            <a:ext cx="4191000" cy="3143250"/>
          </a:xfrm>
          <a:prstGeom prst="rect">
            <a:avLst/>
          </a:prstGeom>
          <a:solidFill>
            <a:srgbClr val="F4F4F8"/>
          </a:solidFill>
          <a:ln>
            <a:noFill/>
          </a:ln>
        </p:spPr>
      </p:sp>
      <p:sp>
        <p:nvSpPr>
          <p:cNvPr id="144" name="Line"/>
          <p:cNvSpPr/>
          <p:nvPr/>
        </p:nvSpPr>
        <p:spPr>
          <a:xfrm flipV="1">
            <a:off x="12420600" y="4667250"/>
            <a:ext cx="1162050" cy="1085850"/>
          </a:xfrm>
          <a:prstGeom prst="line">
            <a:avLst/>
          </a:prstGeom>
          <a:ln w="38100">
            <a:solidFill>
              <a:srgbClr val="516086"/>
            </a:solidFill>
          </a:ln>
        </p:spPr>
      </p:sp>
      <p:sp>
        <p:nvSpPr>
          <p:cNvPr id="145" name="Line"/>
          <p:cNvSpPr/>
          <p:nvPr/>
        </p:nvSpPr>
        <p:spPr>
          <a:xfrm>
            <a:off x="13582650" y="4667250"/>
            <a:ext cx="1009650" cy="762000"/>
          </a:xfrm>
          <a:prstGeom prst="line">
            <a:avLst/>
          </a:prstGeom>
          <a:ln w="38100">
            <a:solidFill>
              <a:srgbClr val="516086"/>
            </a:solidFill>
          </a:ln>
        </p:spPr>
      </p:sp>
      <p:sp>
        <p:nvSpPr>
          <p:cNvPr id="146" name="Line"/>
          <p:cNvSpPr/>
          <p:nvPr/>
        </p:nvSpPr>
        <p:spPr>
          <a:xfrm flipV="1">
            <a:off x="14592300" y="4953000"/>
            <a:ext cx="742950" cy="476250"/>
          </a:xfrm>
          <a:prstGeom prst="line">
            <a:avLst/>
          </a:prstGeom>
          <a:ln w="38100">
            <a:solidFill>
              <a:srgbClr val="516086"/>
            </a:solidFill>
          </a:ln>
        </p:spPr>
      </p:sp>
      <p:sp>
        <p:nvSpPr>
          <p:cNvPr id="147" name="Ellipse"/>
          <p:cNvSpPr/>
          <p:nvPr/>
        </p:nvSpPr>
        <p:spPr>
          <a:xfrm>
            <a:off x="14725650" y="3829050"/>
            <a:ext cx="533400" cy="533400"/>
          </a:xfrm>
          <a:prstGeom prst="ellipse">
            <a:avLst/>
          </a:prstGeom>
          <a:solidFill>
            <a:srgbClr val="EEC12B"/>
          </a:solidFill>
          <a:ln>
            <a:noFill/>
          </a:ln>
        </p:spPr>
      </p:sp>
      <p:sp>
        <p:nvSpPr>
          <p:cNvPr id="148" name="TextBox"/>
          <p:cNvSpPr txBox="1"/>
          <p:nvPr/>
        </p:nvSpPr>
        <p:spPr>
          <a:xfrm>
            <a:off x="11811000" y="68199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0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Reference 3</a:t>
            </a:r>
          </a:p>
        </p:txBody>
      </p:sp>
      <p:sp>
        <p:nvSpPr>
          <p:cNvPr id="149" name="Line"/>
          <p:cNvSpPr/>
          <p:nvPr/>
        </p:nvSpPr>
        <p:spPr>
          <a:xfrm>
            <a:off x="571500" y="9829800"/>
            <a:ext cx="1714500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sp>
      <p:sp>
        <p:nvSpPr>
          <p:cNvPr id="150" name="TextBox"/>
          <p:cNvSpPr txBox="1"/>
          <p:nvPr/>
        </p:nvSpPr>
        <p:spPr>
          <a:xfrm>
            <a:off x="571500" y="9906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ARK / PROJECT DOCUMENT SYSTEM</a:t>
            </a:r>
          </a:p>
        </p:txBody>
      </p:sp>
      <p:sp>
        <p:nvSpPr>
          <p:cNvPr id="151" name="TextBox"/>
          <p:cNvSpPr txBox="1"/>
          <p:nvPr/>
        </p:nvSpPr>
        <p:spPr>
          <a:xfrm>
            <a:off x="16764000" y="99060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11187"/>
          </a:solidFill>
          <a:ln>
            <a:noFill/>
          </a:ln>
        </p:spPr>
      </p:sp>
      <p:sp>
        <p:nvSpPr>
          <p:cNvPr id="153" name="TextBox"/>
          <p:cNvSpPr txBox="1"/>
          <p:nvPr/>
        </p:nvSpPr>
        <p:spPr>
          <a:xfrm>
            <a:off x="571500" y="990600"/>
            <a:ext cx="59055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ARK / PROJECT</a:t>
            </a:r>
          </a:p>
        </p:txBody>
      </p:sp>
      <p:sp>
        <p:nvSpPr>
          <p:cNvPr id="154" name="TextBox"/>
          <p:cNvSpPr txBox="1"/>
          <p:nvPr/>
        </p:nvSpPr>
        <p:spPr>
          <a:xfrm>
            <a:off x="571500" y="3143250"/>
            <a:ext cx="8572500" cy="2476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72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THANK</a:t>
            </a:r>
          </a:p>
          <a:p>
            <a:r>
              <a:rPr lang="ko-KR" sz="7200" b="1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YOU</a:t>
            </a:r>
          </a:p>
        </p:txBody>
      </p:sp>
      <p:sp>
        <p:nvSpPr>
          <p:cNvPr id="155" name="TextBox"/>
          <p:cNvSpPr txBox="1"/>
          <p:nvPr/>
        </p:nvSpPr>
        <p:spPr>
          <a:xfrm>
            <a:off x="571500" y="6572250"/>
            <a:ext cx="7239000" cy="4762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4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SAMPLE Next discussion / Contact / Appendix</a:t>
            </a:r>
          </a:p>
        </p:txBody>
      </p:sp>
      <p:sp>
        <p:nvSpPr>
          <p:cNvPr id="156" name="Line"/>
          <p:cNvSpPr/>
          <p:nvPr/>
        </p:nvSpPr>
        <p:spPr>
          <a:xfrm>
            <a:off x="11715750" y="3505200"/>
            <a:ext cx="4762500" cy="0"/>
          </a:xfrm>
          <a:prstGeom prst="line">
            <a:avLst/>
          </a:prstGeom>
          <a:ln w="38100">
            <a:solidFill>
              <a:srgbClr val="FFFFFF"/>
            </a:solidFill>
          </a:ln>
        </p:spPr>
      </p:sp>
      <p:sp>
        <p:nvSpPr>
          <p:cNvPr id="157" name="Line"/>
          <p:cNvSpPr/>
          <p:nvPr/>
        </p:nvSpPr>
        <p:spPr>
          <a:xfrm>
            <a:off x="11715750" y="4838700"/>
            <a:ext cx="4762500" cy="0"/>
          </a:xfrm>
          <a:prstGeom prst="line">
            <a:avLst/>
          </a:prstGeom>
          <a:ln w="38100">
            <a:solidFill>
              <a:srgbClr val="FFFFFF"/>
            </a:solidFill>
          </a:ln>
        </p:spPr>
      </p:sp>
      <p:sp>
        <p:nvSpPr>
          <p:cNvPr id="158" name="Line"/>
          <p:cNvSpPr/>
          <p:nvPr/>
        </p:nvSpPr>
        <p:spPr>
          <a:xfrm>
            <a:off x="11715750" y="6172200"/>
            <a:ext cx="4762500" cy="0"/>
          </a:xfrm>
          <a:prstGeom prst="line">
            <a:avLst/>
          </a:prstGeom>
          <a:ln w="38100">
            <a:solidFill>
              <a:srgbClr val="FFFFFF"/>
            </a:solidFill>
          </a:ln>
        </p:spPr>
      </p:sp>
      <p:sp>
        <p:nvSpPr>
          <p:cNvPr id="159" name="Line"/>
          <p:cNvSpPr/>
          <p:nvPr/>
        </p:nvSpPr>
        <p:spPr>
          <a:xfrm>
            <a:off x="571500" y="9829800"/>
            <a:ext cx="17145000" cy="0"/>
          </a:xfrm>
          <a:prstGeom prst="line">
            <a:avLst/>
          </a:prstGeom>
          <a:ln w="12700">
            <a:solidFill>
              <a:srgbClr val="FFFFFF"/>
            </a:solidFill>
          </a:ln>
        </p:spPr>
      </p:sp>
      <p:sp>
        <p:nvSpPr>
          <p:cNvPr id="160" name="TextBox"/>
          <p:cNvSpPr txBox="1"/>
          <p:nvPr/>
        </p:nvSpPr>
        <p:spPr>
          <a:xfrm>
            <a:off x="571500" y="9906000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ARK / PROJECT DOCUMENT SYSTEM</a:t>
            </a:r>
          </a:p>
        </p:txBody>
      </p:sp>
      <p:sp>
        <p:nvSpPr>
          <p:cNvPr id="161" name="TextBox"/>
          <p:cNvSpPr txBox="1"/>
          <p:nvPr/>
        </p:nvSpPr>
        <p:spPr>
          <a:xfrm>
            <a:off x="16764000" y="99060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40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K">
  <a:themeElements>
    <a:clrScheme name="ARK">
      <a:dk1>
        <a:srgbClr val="1A2646"/>
      </a:dk1>
      <a:lt1>
        <a:srgbClr val="FFFFFF"/>
      </a:lt1>
      <a:dk2>
        <a:srgbClr val="061A58"/>
      </a:dk2>
      <a:lt2>
        <a:srgbClr val="F4F4F8"/>
      </a:lt2>
      <a:accent1>
        <a:srgbClr val="011187"/>
      </a:accent1>
      <a:accent2>
        <a:srgbClr val="EEC12B"/>
      </a:accent2>
      <a:accent3>
        <a:srgbClr val="516086"/>
      </a:accent3>
      <a:accent4>
        <a:srgbClr val="091955"/>
      </a:accent4>
      <a:accent5>
        <a:srgbClr val="F7C51E"/>
      </a:accent5>
      <a:accent6>
        <a:srgbClr val="D6D9E5"/>
      </a:accent6>
      <a:hlink>
        <a:srgbClr val="011187"/>
      </a:hlink>
      <a:folHlink>
        <a:srgbClr val="061A58"/>
      </a:folHlink>
    </a:clrScheme>
    <a:fontScheme name="ARK">
      <a:majorFont>
        <a:latin typeface="Arial"/>
        <a:ea typeface="Malgun Gothic"/>
        <a:cs typeface="Arial"/>
      </a:majorFont>
      <a:minorFont>
        <a:latin typeface="Arial"/>
        <a:ea typeface="Malgun Gothic"/>
        <a:cs typeface="Arial"/>
      </a:minorFont>
    </a:fontScheme>
    <a:fmtScheme name="ARK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tint val="50000"/>
              </a:schemeClr>
            </a:gs>
          </a:gsLst>
          <a:lin ang="5400000" scaled="1"/>
        </a:gradFill>
        <a:noFill/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tint val="50000"/>
              </a:schemeClr>
            </a:gs>
          </a:gsLst>
          <a:lin ang="5400000" scaled="1"/>
        </a:gradFill>
        <a:no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Codex</Application>
  <Slides>10</Slides>
</Properties>
</file>

<file path=docProps/core.xml><?xml version="1.0" encoding="utf-8"?>
<cp:coreProperties xmlns:cp="http://schemas.openxmlformats.org/package/2006/metadata/core-properties" xmlns:dc="http://purl.org/dc/elements/1.1/">
  <dc:title>ARK Proposal Templates</dc:title>
  <dc:creator>Codex</dc:creator>
</cp:coreProperties>
</file>